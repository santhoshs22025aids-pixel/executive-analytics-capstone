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C"/>
                </a:solidFill>
              </a:defRPr>
            </a:pPr>
            <a:r>
              <a:t>CUSTOMER CHURN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Executive Analytics Capstone | Synthetic customer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D3748"/>
                </a:solidFill>
              </a:defRPr>
            </a:pPr>
            <a:r>
              <a:t>Decision: which customer groups should the team contact first?</a:t>
            </a:r>
          </a:p>
          <a:p>
            <a:pPr>
              <a:spcAft>
                <a:spcPts val="1300"/>
              </a:spcAft>
              <a:defRPr sz="1900">
                <a:solidFill>
                  <a:srgbClr val="2D3748"/>
                </a:solidFill>
              </a:defRPr>
            </a:pPr>
            <a:r>
              <a:t>15 customers | churn 46.7% | retention 53.3%</a:t>
            </a:r>
          </a:p>
          <a:p>
            <a:pPr>
              <a:spcAft>
                <a:spcPts val="1300"/>
              </a:spcAft>
              <a:defRPr sz="1900">
                <a:solidFill>
                  <a:srgbClr val="2D3748"/>
                </a:solidFill>
              </a:defRPr>
            </a:pPr>
            <a:r>
              <a:t>Purpose: turn descriptive patterns into a cautious, measurable retention pilot.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C"/>
                </a:solidFill>
              </a:defRPr>
            </a:pPr>
            <a:r>
              <a:t>1. Executive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Baseline metrics — descriptive, not predictive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D3748"/>
                </a:solidFill>
              </a:defRPr>
            </a:pPr>
            <a:r>
              <a:t>Customers: 15</a:t>
            </a:r>
          </a:p>
          <a:p>
            <a:pPr>
              <a:spcAft>
                <a:spcPts val="1300"/>
              </a:spcAft>
              <a:defRPr sz="1900">
                <a:solidFill>
                  <a:srgbClr val="2D3748"/>
                </a:solidFill>
              </a:defRPr>
            </a:pPr>
            <a:r>
              <a:t>Churned: 7 (46.7%)</a:t>
            </a:r>
          </a:p>
          <a:p>
            <a:pPr>
              <a:spcAft>
                <a:spcPts val="1300"/>
              </a:spcAft>
              <a:defRPr sz="1900">
                <a:solidFill>
                  <a:srgbClr val="2D3748"/>
                </a:solidFill>
              </a:defRPr>
            </a:pPr>
            <a:r>
              <a:t>Retention: 53.3%</a:t>
            </a:r>
          </a:p>
          <a:p>
            <a:pPr>
              <a:spcAft>
                <a:spcPts val="1300"/>
              </a:spcAft>
              <a:defRPr sz="1900">
                <a:solidFill>
                  <a:srgbClr val="2D3748"/>
                </a:solidFill>
              </a:defRPr>
            </a:pPr>
            <a:r>
              <a:t>Average tenure: 18.8 months</a:t>
            </a:r>
          </a:p>
          <a:p>
            <a:pPr>
              <a:spcAft>
                <a:spcPts val="1300"/>
              </a:spcAft>
              <a:defRPr sz="1900">
                <a:solidFill>
                  <a:srgbClr val="2D3748"/>
                </a:solidFill>
              </a:defRPr>
            </a:pPr>
            <a:r>
              <a:t>Monthly charges associated with churn: ₹409.93 (exposure proxy, not forecast)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C"/>
                </a:solidFill>
              </a:defRPr>
            </a:pPr>
            <a:r>
              <a:t>2. Contract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Observed differences do not prove causation</a:t>
            </a:r>
          </a:p>
        </p:txBody>
      </p:sp>
      <p:pic>
        <p:nvPicPr>
          <p:cNvPr id="4" name="Picture 3" descr="churn_by_contract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63040"/>
            <a:ext cx="658368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D3748"/>
                </a:solidFill>
              </a:defRPr>
            </a:pPr>
            <a:r>
              <a:t>Highest observed contract churn: Month-to-Month (100.0%; n=7).</a:t>
            </a:r>
          </a:p>
          <a:p>
            <a:pPr>
              <a:spcAft>
                <a:spcPts val="1300"/>
              </a:spcAft>
              <a:defRPr sz="1600">
                <a:solidFill>
                  <a:srgbClr val="2D3748"/>
                </a:solidFill>
              </a:defRPr>
            </a:pPr>
            <a:r>
              <a:t>Verify the number of customers in each group before prioritising outreach.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C"/>
                </a:solidFill>
              </a:defRPr>
            </a:pPr>
            <a:r>
              <a:t>3. Subscription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Observed differences do not prove causation</a:t>
            </a:r>
          </a:p>
        </p:txBody>
      </p:sp>
      <p:pic>
        <p:nvPicPr>
          <p:cNvPr id="4" name="Picture 3" descr="churn_by_subscription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63040"/>
            <a:ext cx="658368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D3748"/>
                </a:solidFill>
              </a:defRPr>
            </a:pPr>
            <a:r>
              <a:t>Compare observed churn rates, but check group sizes before making decisions.</a:t>
            </a:r>
          </a:p>
          <a:p>
            <a:pPr>
              <a:spcAft>
                <a:spcPts val="1300"/>
              </a:spcAft>
              <a:defRPr sz="1600">
                <a:solidFill>
                  <a:srgbClr val="2D3748"/>
                </a:solidFill>
              </a:defRPr>
            </a:pPr>
            <a:r>
              <a:t>Verify the number of customers in each group before prioritising outreach.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C"/>
                </a:solidFill>
              </a:defRPr>
            </a:pPr>
            <a:r>
              <a:t>4. Tenure and support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Observed differences do not prove causation</a:t>
            </a:r>
          </a:p>
        </p:txBody>
      </p:sp>
      <p:pic>
        <p:nvPicPr>
          <p:cNvPr id="4" name="Picture 3" descr="churn_by_tenure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63040"/>
            <a:ext cx="658368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D3748"/>
                </a:solidFill>
              </a:defRPr>
            </a:pPr>
            <a:r>
              <a:t>Highest observed tenure-band churn: 0-12 months (100.0%; n=6). Highest observed support-ticket-band churn: 4+ tickets (100.0%; n=5).</a:t>
            </a:r>
          </a:p>
          <a:p>
            <a:pPr>
              <a:spcAft>
                <a:spcPts val="1300"/>
              </a:spcAft>
              <a:defRPr sz="1600">
                <a:solidFill>
                  <a:srgbClr val="2D3748"/>
                </a:solidFill>
              </a:defRPr>
            </a:pPr>
            <a:r>
              <a:t>Verify the number of customers in each group before prioritising outreach.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C"/>
                </a:solidFill>
              </a:defRPr>
            </a:pPr>
            <a:r>
              <a:t>5. Recommended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A small pilot is safer than a broad policy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D3748"/>
                </a:solidFill>
              </a:defRPr>
            </a:pPr>
            <a:r>
              <a:t>Audience: month-to-month customers with several recent support tickets; verify counts first.</a:t>
            </a:r>
          </a:p>
          <a:p>
            <a:pPr>
              <a:spcAft>
                <a:spcPts val="1300"/>
              </a:spcAft>
              <a:defRPr sz="1900">
                <a:solidFill>
                  <a:srgbClr val="2D3748"/>
                </a:solidFill>
              </a:defRPr>
            </a:pPr>
            <a:r>
              <a:t>Action: proactive service check-in, resolve open issues, explain available plan options.</a:t>
            </a:r>
          </a:p>
          <a:p>
            <a:pPr>
              <a:spcAft>
                <a:spcPts val="1300"/>
              </a:spcAft>
              <a:defRPr sz="1900">
                <a:solidFill>
                  <a:srgbClr val="2D3748"/>
                </a:solidFill>
              </a:defRPr>
            </a:pPr>
            <a:r>
              <a:t>Measure contact and response rates, 30/60-day retention, cost per retained customer, and feedback.</a:t>
            </a:r>
          </a:p>
          <a:p>
            <a:pPr>
              <a:spcAft>
                <a:spcPts val="1300"/>
              </a:spcAft>
              <a:defRPr sz="1900">
                <a:solidFill>
                  <a:srgbClr val="2D3748"/>
                </a:solidFill>
              </a:defRPr>
            </a:pPr>
            <a:r>
              <a:t>Compare with a holdout or matched group before claiming impact.</a:t>
            </a:r>
          </a:p>
          <a:p>
            <a:pPr>
              <a:spcAft>
                <a:spcPts val="1300"/>
              </a:spcAft>
              <a:defRPr sz="1900">
                <a:solidFill>
                  <a:srgbClr val="2D3748"/>
                </a:solidFill>
              </a:defRPr>
            </a:pPr>
            <a:r>
              <a:t>Expected impact is a hypothesis, not a promise.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C"/>
                </a:solidFill>
              </a:defRPr>
            </a:pPr>
            <a: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Transparent assumptions protect decision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D3748"/>
                </a:solidFill>
              </a:defRPr>
            </a:pPr>
            <a:r>
              <a:t>Only 15 synthetic records; one customer can shift rates materially.</a:t>
            </a:r>
          </a:p>
          <a:p>
            <a:pPr>
              <a:spcAft>
                <a:spcPts val="1300"/>
              </a:spcAft>
              <a:defRPr sz="1900">
                <a:solidFill>
                  <a:srgbClr val="2D3748"/>
                </a:solidFill>
              </a:defRPr>
            </a:pPr>
            <a:r>
              <a:t>No timeline, intervention history, or customer-satisfaction data is available.</a:t>
            </a:r>
          </a:p>
          <a:p>
            <a:pPr>
              <a:spcAft>
                <a:spcPts val="1300"/>
              </a:spcAft>
              <a:defRPr sz="1900">
                <a:solidFill>
                  <a:srgbClr val="2D3748"/>
                </a:solidFill>
              </a:defRPr>
            </a:pPr>
            <a:r>
              <a:t>Monthly charges of churned customers are not confirmed future revenue loss.</a:t>
            </a:r>
          </a:p>
          <a:p>
            <a:pPr>
              <a:spcAft>
                <a:spcPts val="1300"/>
              </a:spcAft>
              <a:defRPr sz="1900">
                <a:solidFill>
                  <a:srgbClr val="2D3748"/>
                </a:solidFill>
              </a:defRPr>
            </a:pPr>
            <a:r>
              <a:t>Collect more data and repeat the analysis monthly.</a:t>
            </a:r>
          </a:p>
          <a:p>
            <a:pPr>
              <a:spcAft>
                <a:spcPts val="1300"/>
              </a:spcAft>
              <a:defRPr sz="1900">
                <a:solidFill>
                  <a:srgbClr val="2D3748"/>
                </a:solidFill>
              </a:defRPr>
            </a:pPr>
            <a:r>
              <a:t>Use this analysis to design a pilot, not to automate customer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